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Engage2 Document Search (Phase 1)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21208" y="841248"/>
            <a:ext cx="11146536" cy="0"/>
          </a:xfrm>
          <a:prstGeom prst="line">
            <a:avLst/>
          </a:prstGeom>
          <a:noFill/>
          <a:ln w="12700">
            <a:solidFill>
              <a:srgbClr val="C9C9C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21208" y="10058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21208" y="1298448"/>
            <a:ext cx="5989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Engage2 Document Search (Phase 1) solution helps the Reg Affairs team identify required regulatory documents faster by introducing a content-level document search mechanism within the Engage2 platform — reducing overall turnaround time and increasing process efficiency. The solution went live globally on 19th Oct 2025.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903720" y="1005840"/>
            <a:ext cx="1572768" cy="1737360"/>
          </a:xfrm>
          <a:prstGeom prst="roundRect">
            <a:avLst>
              <a:gd name="adj" fmla="val 5814"/>
            </a:avLst>
          </a:prstGeom>
          <a:solidFill>
            <a:srgbClr val="B23A2E"/>
          </a:solidFill>
          <a:ln/>
          <a:effectLst>
            <a:outerShdw sx="100000" sy="100000" kx="0" ky="0" algn="bl" rotWithShape="0" blurRad="76200" dist="25400" dir="5400000">
              <a:srgbClr val="A0A0A0">
                <a:alpha val="4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903720" y="118872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 ’25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6903720" y="1993392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FB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went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FB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globally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567928" y="1005840"/>
            <a:ext cx="1572768" cy="1737360"/>
          </a:xfrm>
          <a:prstGeom prst="roundRect">
            <a:avLst>
              <a:gd name="adj" fmla="val 5814"/>
            </a:avLst>
          </a:prstGeom>
          <a:solidFill>
            <a:srgbClr val="B23A2E"/>
          </a:solidFill>
          <a:ln/>
          <a:effectLst>
            <a:outerShdw sx="100000" sy="100000" kx="0" ky="0" algn="bl" rotWithShape="0" blurRad="76200" dist="25400" dir="5400000">
              <a:srgbClr val="A0A0A0">
                <a:alpha val="4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567928" y="118872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99%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8567928" y="1993392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FB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for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FB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search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232136" y="1005840"/>
            <a:ext cx="1572768" cy="1737360"/>
          </a:xfrm>
          <a:prstGeom prst="roundRect">
            <a:avLst>
              <a:gd name="adj" fmla="val 5814"/>
            </a:avLst>
          </a:prstGeom>
          <a:solidFill>
            <a:srgbClr val="B23A2E"/>
          </a:solidFill>
          <a:ln/>
          <a:effectLst>
            <a:outerShdw sx="100000" sy="100000" kx="0" ky="0" algn="bl" rotWithShape="0" blurRad="76200" dist="25400" dir="5400000">
              <a:srgbClr val="A0A0A0">
                <a:alpha val="4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10232136" y="118872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10232136" y="1993392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FB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FB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TAT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1208" y="2999232"/>
            <a:ext cx="11146536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2648" y="324612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Enabled Automation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21208" y="3557016"/>
            <a:ext cx="2670048" cy="324612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01568" y="324612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Simplification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310128" y="3557016"/>
            <a:ext cx="2670048" cy="324612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90488" y="324612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led progress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099048" y="3557016"/>
            <a:ext cx="2670048" cy="324612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979408" y="324612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Phases/Plans/next steps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887968" y="3557016"/>
            <a:ext cx="2670048" cy="324612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" y="3703320"/>
            <a:ext cx="23408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2F4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Engage2 Document Search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an </a:t>
            </a:r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NLP-powered exact search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capability that reads inside uploaded documents and returns the </a:t>
            </a:r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names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matching a user’s keywords or phrases.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5166360"/>
            <a:ext cx="23408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calculates </a:t>
            </a:r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between search terms and document text. It is </a:t>
            </a:r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data-agnostic, scalable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built for easy redeployment across multiple document databases.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3474720" y="3703320"/>
            <a:ext cx="23408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manual, folder-by-folder document hunting with a single content-level search inside Engage2.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3474720" y="4663440"/>
            <a:ext cx="23408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Rolled out globally to 1250+ users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PDF, DOCX and MSG formats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Streamlines regulatory document retrieval, reducing effort and rework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by RC Change &amp; Digital Enablement team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263640" y="3703320"/>
            <a:ext cx="234086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buSzPct val="100000"/>
              <a:buChar char="•"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time savings</a:t>
            </a:r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expected on document searches</a:t>
            </a:r>
            <a:endParaRPr lang="en-US" sz="1150" dirty="0"/>
          </a:p>
          <a:p>
            <a:pPr marL="177800" indent="-177800">
              <a:lnSpc>
                <a:spcPct val="102000"/>
              </a:lnSpc>
              <a:buSzPct val="100000"/>
              <a:buChar char="•"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 accuracy</a:t>
            </a:r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the exact-search solution</a:t>
            </a:r>
            <a:endParaRPr lang="en-US" sz="1150" dirty="0"/>
          </a:p>
          <a:p>
            <a:pPr marL="177800" indent="-177800">
              <a:lnSpc>
                <a:spcPct val="102000"/>
              </a:lnSpc>
              <a:buSzPct val="100000"/>
              <a:buChar char="•"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1250+ users</a:t>
            </a:r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live across the organisation globally</a:t>
            </a:r>
            <a:endParaRPr lang="en-US" sz="1150" dirty="0"/>
          </a:p>
          <a:p>
            <a:pPr marL="177800" indent="-177800">
              <a:lnSpc>
                <a:spcPct val="102000"/>
              </a:lnSpc>
              <a:buSzPct val="100000"/>
              <a:buChar char="•"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on 19th Oct 2025</a:t>
            </a:r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delivered on plan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9052560" y="370332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Semantic Search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9052560" y="4032504"/>
            <a:ext cx="234086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contextual "semantic" search over the existing exact search — synonyms &amp; similar phrases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handling of mis-spellings and typos for a better user experience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scope to more formats: PPTX, XLSX and CSV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0" y="6510528"/>
            <a:ext cx="12191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2026-09-15T09:50:46Z</dcterms:created>
  <dcterms:modified xsi:type="dcterms:W3CDTF">2026-09-15T09:50:46Z</dcterms:modified>
</cp:coreProperties>
</file>