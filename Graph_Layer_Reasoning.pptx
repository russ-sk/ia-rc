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LAYER · EXPLAINABLE LINKAGE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linkage carries its reasoning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REGDEV   </a:t>
            </a:r>
            <a:pPr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covered lender must not use a consumer’s medical information when deciding eligibility or terms for a credit product.”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920240" y="3566160"/>
            <a:ext cx="548640" cy="18288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3931920" y="2423160"/>
            <a:ext cx="640080" cy="91440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3931920" y="3520440"/>
            <a:ext cx="822960" cy="4572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931920" y="3794760"/>
            <a:ext cx="640080" cy="82296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69280" y="2331720"/>
            <a:ext cx="640080" cy="27432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52160" y="3566160"/>
            <a:ext cx="457200" cy="54864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3200400"/>
            <a:ext cx="1280160" cy="731520"/>
          </a:xfrm>
          <a:prstGeom prst="roundRect">
            <a:avLst>
              <a:gd name="adj" fmla="val 11250"/>
            </a:avLst>
          </a:prstGeom>
          <a:solidFill>
            <a:srgbClr val="DB0011"/>
          </a:solidFill>
          <a:ln/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76656" y="3200400"/>
            <a:ext cx="1207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 RegDev)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3200400"/>
            <a:ext cx="1463040" cy="731520"/>
          </a:xfrm>
          <a:prstGeom prst="roundRect">
            <a:avLst>
              <a:gd name="adj" fmla="val 1125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505456" y="320040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965960"/>
            <a:ext cx="1097280" cy="548640"/>
          </a:xfrm>
          <a:prstGeom prst="roundRect">
            <a:avLst>
              <a:gd name="adj" fmla="val 15000"/>
            </a:avLst>
          </a:prstGeom>
          <a:solidFill>
            <a:srgbClr val="FCE8EA"/>
          </a:solidFill>
          <a:ln w="15875">
            <a:solidFill>
              <a:srgbClr val="DB0011"/>
            </a:solidFill>
            <a:prstDash val="solid"/>
          </a:ln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608576" y="1965960"/>
            <a:ext cx="1024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3246120"/>
            <a:ext cx="1097280" cy="548640"/>
          </a:xfrm>
          <a:prstGeom prst="roundRect">
            <a:avLst>
              <a:gd name="adj" fmla="val 15000"/>
            </a:avLst>
          </a:prstGeom>
          <a:solidFill>
            <a:srgbClr val="FCE8EA"/>
          </a:solidFill>
          <a:ln w="15875">
            <a:solidFill>
              <a:srgbClr val="DB0011"/>
            </a:solidFill>
            <a:prstDash val="solid"/>
          </a:ln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791456" y="3246120"/>
            <a:ext cx="1024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4343400"/>
            <a:ext cx="1097280" cy="548640"/>
          </a:xfrm>
          <a:prstGeom prst="roundRect">
            <a:avLst>
              <a:gd name="adj" fmla="val 15000"/>
            </a:avLst>
          </a:prstGeom>
          <a:solidFill>
            <a:srgbClr val="FCE8EA"/>
          </a:solidFill>
          <a:ln w="15875">
            <a:solidFill>
              <a:srgbClr val="DB0011"/>
            </a:solidFill>
            <a:prstDash val="solid"/>
          </a:ln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608576" y="4343400"/>
            <a:ext cx="1024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9360" y="2331720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345936" y="2331720"/>
            <a:ext cx="978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3977640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345936" y="3977640"/>
            <a:ext cx="978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075688" y="3447288"/>
            <a:ext cx="237744" cy="237744"/>
          </a:xfrm>
          <a:prstGeom prst="ellipse">
            <a:avLst/>
          </a:prstGeom>
          <a:solidFill>
            <a:srgbClr val="DB00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75688" y="34472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05656" y="2734056"/>
            <a:ext cx="237744" cy="237744"/>
          </a:xfrm>
          <a:prstGeom prst="ellipse">
            <a:avLst/>
          </a:prstGeom>
          <a:solidFill>
            <a:srgbClr val="DB00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05656" y="27340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24528" y="3419856"/>
            <a:ext cx="237744" cy="237744"/>
          </a:xfrm>
          <a:prstGeom prst="ellipse">
            <a:avLst/>
          </a:prstGeom>
          <a:solidFill>
            <a:srgbClr val="DB00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24528" y="34198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05656" y="4105656"/>
            <a:ext cx="237744" cy="237744"/>
          </a:xfrm>
          <a:prstGeom prst="ellipse">
            <a:avLst/>
          </a:prstGeom>
          <a:solidFill>
            <a:srgbClr val="DB00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05656" y="41056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70448" y="2313432"/>
            <a:ext cx="237744" cy="237744"/>
          </a:xfrm>
          <a:prstGeom prst="ellipse">
            <a:avLst/>
          </a:prstGeom>
          <a:solidFill>
            <a:srgbClr val="DB00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70448" y="23134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34456" y="3758184"/>
            <a:ext cx="237744" cy="237744"/>
          </a:xfrm>
          <a:prstGeom prst="ellipse">
            <a:avLst/>
          </a:prstGeom>
          <a:solidFill>
            <a:srgbClr val="DB00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34456" y="37581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2578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  ·   Obligation   ·   Control (C)   ·   Policy (P)   —   nodes joined by typed, reasoned edges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635240" y="1828800"/>
            <a:ext cx="4023360" cy="4343400"/>
          </a:xfrm>
          <a:prstGeom prst="roundRect">
            <a:avLst>
              <a:gd name="adj" fmla="val 1591"/>
            </a:avLst>
          </a:prstGeom>
          <a:solidFill>
            <a:srgbClr val="FBF4F5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86384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LINKAGES HOLD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863840" y="2212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reasoning on each edge (example)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863840" y="2560320"/>
            <a:ext cx="219456" cy="219456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863840" y="25603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8183880" y="2523744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→ Obligation  </a:t>
            </a:r>
            <a:pPr indent="0" marL="0">
              <a:buNone/>
            </a:pPr>
            <a:r>
              <a:rPr lang="en-US" sz="950" b="1" spc="5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8183880" y="2743200"/>
            <a:ext cx="3401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RegDev introduces a prohibition on using medical information in credit decisions, creating this obligation to exclude it from eligibility and pricing.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863840" y="3163824"/>
            <a:ext cx="219456" cy="219456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863840" y="316382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8183880" y="312724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→ C1  </a:t>
            </a:r>
            <a:pPr indent="0" marL="0">
              <a:buNone/>
            </a:pPr>
            <a:r>
              <a:rPr lang="en-US" sz="950" b="1" spc="5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8183880" y="3346704"/>
            <a:ext cx="3401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blocks medical-information fields from entering the decisioning model — the direct control the obligation requires.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863840" y="3767328"/>
            <a:ext cx="219456" cy="219456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863840" y="376732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8183880" y="373075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→ C2  </a:t>
            </a:r>
            <a:pPr indent="0" marL="0">
              <a:buNone/>
            </a:pPr>
            <a:r>
              <a:rPr lang="en-US" sz="950" b="1" spc="5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8183880" y="3950208"/>
            <a:ext cx="3401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reviews model inputs so no proxy or derived feature reintroduces medical data into scoring.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863840" y="4370832"/>
            <a:ext cx="219456" cy="219456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7863840" y="43708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8183880" y="4334256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→ Cn  </a:t>
            </a:r>
            <a:pPr indent="0" marL="0">
              <a:buNone/>
            </a:pPr>
            <a:r>
              <a:rPr lang="en-US" sz="950" b="1" spc="5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EVIDENCED BY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8183880" y="4553712"/>
            <a:ext cx="3401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validates that adverse-action reasons never cite medical information, evidencing compliance.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63840" y="4974336"/>
            <a:ext cx="219456" cy="219456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7863840" y="49743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8183880" y="493776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→ P1  </a:t>
            </a:r>
            <a:pPr indent="0" marL="0">
              <a:buNone/>
            </a:pPr>
            <a:r>
              <a:rPr lang="en-US" sz="950" b="1" spc="5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OPERATIONALISES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8183880" y="5157216"/>
            <a:ext cx="3401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operationalises the Fair Lending Policy, which prohibits use of medical / protected attributes.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863840" y="5577840"/>
            <a:ext cx="219456" cy="219456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7863840" y="55778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8183880" y="5541264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→ P2  </a:t>
            </a:r>
            <a:pPr indent="0" marL="0">
              <a:buNone/>
            </a:pPr>
            <a:r>
              <a:rPr lang="en-US" sz="950" b="1" spc="5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OPERATIONALISES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8183880" y="5760720"/>
            <a:ext cx="3401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operationalises the Credit Risk Data Usage Policy governing permissible model inputs.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Senior Management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2026-09-29T14:19:08Z</dcterms:created>
  <dcterms:modified xsi:type="dcterms:W3CDTF">2026-09-29T14:19:08Z</dcterms:modified>
</cp:coreProperties>
</file>